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Roboto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regular.fntdata"/><Relationship Id="rId11" Type="http://schemas.openxmlformats.org/officeDocument/2006/relationships/slide" Target="slides/slide6.xml"/><Relationship Id="rId22" Type="http://schemas.openxmlformats.org/officeDocument/2006/relationships/font" Target="fonts/Roboto-italic.fntdata"/><Relationship Id="rId10" Type="http://schemas.openxmlformats.org/officeDocument/2006/relationships/slide" Target="slides/slide5.xml"/><Relationship Id="rId21" Type="http://schemas.openxmlformats.org/officeDocument/2006/relationships/font" Target="fonts/Roboto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Robot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65e4a1968e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65e4a1968e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67a29ea15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67a29ea15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67a29ea15a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67a29ea15a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65e4a1968e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65e4a1968e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67a29ea15a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67a29ea15a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65e4a1968e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65e4a1968e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6717ff27b5_2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6717ff27b5_2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65e4a1968e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65e4a1968e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65e4a1968e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65e4a1968e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65e4a1968e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65e4a1968e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65e4a1968e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65e4a1968e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67a29ea15a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67a29ea15a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3d64727d8a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3d64727d8a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mc:AlternateContent>
    <mc:Choice Requires="p14">
      <p:transition spd="slow" p14:dur="1000">
        <p:fade thruBlk="1"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6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6.jpg"/><Relationship Id="rId4" Type="http://schemas.openxmlformats.org/officeDocument/2006/relationships/image" Target="../media/image7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6.jpg"/><Relationship Id="rId4" Type="http://schemas.openxmlformats.org/officeDocument/2006/relationships/image" Target="../media/image15.png"/><Relationship Id="rId5" Type="http://schemas.openxmlformats.org/officeDocument/2006/relationships/image" Target="../media/image14.png"/><Relationship Id="rId6" Type="http://schemas.openxmlformats.org/officeDocument/2006/relationships/image" Target="../media/image11.png"/><Relationship Id="rId7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1" Type="http://schemas.openxmlformats.org/officeDocument/2006/relationships/image" Target="../media/image23.png"/><Relationship Id="rId10" Type="http://schemas.openxmlformats.org/officeDocument/2006/relationships/image" Target="../media/image8.png"/><Relationship Id="rId13" Type="http://schemas.openxmlformats.org/officeDocument/2006/relationships/image" Target="../media/image27.png"/><Relationship Id="rId1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6.jpg"/><Relationship Id="rId4" Type="http://schemas.openxmlformats.org/officeDocument/2006/relationships/image" Target="../media/image2.png"/><Relationship Id="rId9" Type="http://schemas.openxmlformats.org/officeDocument/2006/relationships/image" Target="../media/image5.png"/><Relationship Id="rId14" Type="http://schemas.openxmlformats.org/officeDocument/2006/relationships/image" Target="../media/image16.png"/><Relationship Id="rId5" Type="http://schemas.openxmlformats.org/officeDocument/2006/relationships/image" Target="../media/image9.png"/><Relationship Id="rId6" Type="http://schemas.openxmlformats.org/officeDocument/2006/relationships/image" Target="../media/image13.png"/><Relationship Id="rId7" Type="http://schemas.openxmlformats.org/officeDocument/2006/relationships/image" Target="../media/image10.png"/><Relationship Id="rId8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6.jpg"/><Relationship Id="rId4" Type="http://schemas.openxmlformats.org/officeDocument/2006/relationships/image" Target="../media/image19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6.jpg"/><Relationship Id="rId4" Type="http://schemas.openxmlformats.org/officeDocument/2006/relationships/image" Target="../media/image21.png"/><Relationship Id="rId5" Type="http://schemas.openxmlformats.org/officeDocument/2006/relationships/image" Target="../media/image4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6.jpg"/><Relationship Id="rId4" Type="http://schemas.openxmlformats.org/officeDocument/2006/relationships/image" Target="../media/image24.png"/><Relationship Id="rId5" Type="http://schemas.openxmlformats.org/officeDocument/2006/relationships/image" Target="../media/image22.png"/></Relationships>
</file>

<file path=ppt/slides/_rels/slide9.xml.rels><?xml version="1.0" encoding="UTF-8" standalone="yes"?><Relationships xmlns="http://schemas.openxmlformats.org/package/2006/relationships"><Relationship Id="rId11" Type="http://schemas.openxmlformats.org/officeDocument/2006/relationships/image" Target="../media/image29.png"/><Relationship Id="rId10" Type="http://schemas.openxmlformats.org/officeDocument/2006/relationships/image" Target="../media/image33.png"/><Relationship Id="rId13" Type="http://schemas.openxmlformats.org/officeDocument/2006/relationships/image" Target="../media/image35.png"/><Relationship Id="rId12" Type="http://schemas.openxmlformats.org/officeDocument/2006/relationships/image" Target="../media/image34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6.jpg"/><Relationship Id="rId4" Type="http://schemas.openxmlformats.org/officeDocument/2006/relationships/image" Target="../media/image20.png"/><Relationship Id="rId9" Type="http://schemas.openxmlformats.org/officeDocument/2006/relationships/image" Target="../media/image32.png"/><Relationship Id="rId15" Type="http://schemas.openxmlformats.org/officeDocument/2006/relationships/image" Target="../media/image36.png"/><Relationship Id="rId14" Type="http://schemas.openxmlformats.org/officeDocument/2006/relationships/image" Target="../media/image38.png"/><Relationship Id="rId16" Type="http://schemas.openxmlformats.org/officeDocument/2006/relationships/image" Target="../media/image46.png"/><Relationship Id="rId5" Type="http://schemas.openxmlformats.org/officeDocument/2006/relationships/image" Target="../media/image25.png"/><Relationship Id="rId6" Type="http://schemas.openxmlformats.org/officeDocument/2006/relationships/image" Target="../media/image31.png"/><Relationship Id="rId7" Type="http://schemas.openxmlformats.org/officeDocument/2006/relationships/image" Target="../media/image28.png"/><Relationship Id="rId8" Type="http://schemas.openxmlformats.org/officeDocument/2006/relationships/image" Target="../media/image3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6.jpg"/><Relationship Id="rId4" Type="http://schemas.openxmlformats.org/officeDocument/2006/relationships/image" Target="../media/image47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6.jpg"/><Relationship Id="rId4" Type="http://schemas.openxmlformats.org/officeDocument/2006/relationships/image" Target="../media/image20.png"/><Relationship Id="rId5" Type="http://schemas.openxmlformats.org/officeDocument/2006/relationships/image" Target="../media/image25.png"/><Relationship Id="rId6" Type="http://schemas.openxmlformats.org/officeDocument/2006/relationships/image" Target="../media/image34.png"/><Relationship Id="rId7" Type="http://schemas.openxmlformats.org/officeDocument/2006/relationships/image" Target="../media/image35.png"/><Relationship Id="rId8" Type="http://schemas.openxmlformats.org/officeDocument/2006/relationships/image" Target="../media/image3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6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6.jpg"/><Relationship Id="rId4" Type="http://schemas.openxmlformats.org/officeDocument/2006/relationships/image" Target="../media/image3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6.jpg"/><Relationship Id="rId4" Type="http://schemas.openxmlformats.org/officeDocument/2006/relationships/image" Target="../media/image41.png"/><Relationship Id="rId9" Type="http://schemas.openxmlformats.org/officeDocument/2006/relationships/image" Target="../media/image42.png"/><Relationship Id="rId5" Type="http://schemas.openxmlformats.org/officeDocument/2006/relationships/image" Target="../media/image39.png"/><Relationship Id="rId6" Type="http://schemas.openxmlformats.org/officeDocument/2006/relationships/image" Target="../media/image40.png"/><Relationship Id="rId7" Type="http://schemas.openxmlformats.org/officeDocument/2006/relationships/image" Target="../media/image44.png"/><Relationship Id="rId8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2124300" y="961800"/>
            <a:ext cx="4895400" cy="134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Proyecto </a:t>
            </a:r>
            <a:r>
              <a:rPr lang="es"/>
              <a:t>Panorama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926150" y="2371650"/>
            <a:ext cx="5291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Plataforma de difusión de eventos sociales, culturales y de ocio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91" name="Google Shape;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02602" y="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 txBox="1"/>
          <p:nvPr>
            <p:ph type="title"/>
          </p:nvPr>
        </p:nvSpPr>
        <p:spPr>
          <a:xfrm>
            <a:off x="95850" y="88775"/>
            <a:ext cx="36924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Integrantes del grupo</a:t>
            </a:r>
            <a:endParaRPr b="1"/>
          </a:p>
        </p:txBody>
      </p:sp>
      <p:sp>
        <p:nvSpPr>
          <p:cNvPr id="93" name="Google Shape;93;p14"/>
          <p:cNvSpPr/>
          <p:nvPr/>
        </p:nvSpPr>
        <p:spPr>
          <a:xfrm>
            <a:off x="655600" y="982600"/>
            <a:ext cx="3515400" cy="15222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Moisés Figueroa</a:t>
            </a:r>
            <a:endParaRPr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Líder de Proyecto / Fullstack Developer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Coordinación general, desarrollo backend con Elysia.js y Supabase, implementación de lógica de negocio, validaciones, autenticación y control de requerimientos</a:t>
            </a:r>
            <a:endParaRPr i="1"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" name="Google Shape;94;p14"/>
          <p:cNvSpPr/>
          <p:nvPr/>
        </p:nvSpPr>
        <p:spPr>
          <a:xfrm>
            <a:off x="5131725" y="982600"/>
            <a:ext cx="3515400" cy="15222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Javier Vega</a:t>
            </a:r>
            <a:endParaRPr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Fullstack Developer / Documentación Técnica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Desarrollo frontend con Next.js y Tailwind, diseño de interfaz, validación de formularios, documentación técnica y modelado de base de datos.</a:t>
            </a:r>
            <a:endParaRPr b="1" i="1" sz="15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" name="Google Shape;95;p14"/>
          <p:cNvSpPr/>
          <p:nvPr/>
        </p:nvSpPr>
        <p:spPr>
          <a:xfrm>
            <a:off x="2814300" y="2917450"/>
            <a:ext cx="3515400" cy="15222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Zenón Jara</a:t>
            </a:r>
            <a:endParaRPr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Fullstack Developer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Ejecución de pruebas funcionales, validación de flujos, revisión de funcionalidades, soporte en control de calidad y retroalimentación continua</a:t>
            </a:r>
            <a:endParaRPr b="1" i="1" sz="15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 txBox="1"/>
          <p:nvPr>
            <p:ph type="title"/>
          </p:nvPr>
        </p:nvSpPr>
        <p:spPr>
          <a:xfrm>
            <a:off x="84625" y="88775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Introducción al proyecto</a:t>
            </a:r>
            <a:endParaRPr b="1"/>
          </a:p>
        </p:txBody>
      </p:sp>
      <p:sp>
        <p:nvSpPr>
          <p:cNvPr id="101" name="Google Shape;101;p15"/>
          <p:cNvSpPr txBox="1"/>
          <p:nvPr>
            <p:ph idx="1" type="body"/>
          </p:nvPr>
        </p:nvSpPr>
        <p:spPr>
          <a:xfrm>
            <a:off x="311700" y="754488"/>
            <a:ext cx="8520600" cy="99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s" sz="1600"/>
              <a:t>Problema:</a:t>
            </a:r>
            <a:r>
              <a:rPr b="1" lang="es"/>
              <a:t> </a:t>
            </a:r>
            <a:r>
              <a:rPr lang="es" sz="1500">
                <a:solidFill>
                  <a:srgbClr val="31394D"/>
                </a:solidFill>
              </a:rPr>
              <a:t>Falta de canales digitales organizados y confiables para difusión de eventos</a:t>
            </a:r>
            <a:endParaRPr sz="19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s" sz="1600"/>
              <a:t>Solución:</a:t>
            </a:r>
            <a:r>
              <a:rPr lang="es" sz="1600"/>
              <a:t> Plataforma web moderna para conectar usuarios y organizadores.</a:t>
            </a:r>
            <a:endParaRPr sz="1600"/>
          </a:p>
        </p:txBody>
      </p:sp>
      <p:sp>
        <p:nvSpPr>
          <p:cNvPr id="102" name="Google Shape;102;p15"/>
          <p:cNvSpPr txBox="1"/>
          <p:nvPr>
            <p:ph idx="1" type="body"/>
          </p:nvPr>
        </p:nvSpPr>
        <p:spPr>
          <a:xfrm>
            <a:off x="311700" y="1656425"/>
            <a:ext cx="8520600" cy="315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/>
              <a:t>¿Por qué elegimos este proyecto?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/>
              <a:t>Necesidad local no cubierta.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/>
              <a:t>Proyecto viable técnicamente.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/>
              <a:t>Desafío profesional aplicado.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/>
              <a:t>Impacto: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/>
              <a:t>Usuarios → Mayor </a:t>
            </a:r>
            <a:r>
              <a:rPr lang="es"/>
              <a:t>visibilidad</a:t>
            </a:r>
            <a:r>
              <a:rPr lang="es"/>
              <a:t> de eventos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/>
              <a:t>Organizadores → Visibilidad y difusión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/>
              <a:t>Comunidad → Desarrollo cultural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descr="EscuelaIT Duoc UC - Escuela de Informática y Telecomunicaciones Duoc UC - Duoc  UC | LinkedIn" id="103" name="Google Shape;10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02602" y="0"/>
            <a:ext cx="3141406" cy="7853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98144" y="1921900"/>
            <a:ext cx="1335113" cy="99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78700" y="3894050"/>
            <a:ext cx="723900" cy="72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45000" y="1853899"/>
            <a:ext cx="2346550" cy="143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6"/>
          <p:cNvSpPr txBox="1"/>
          <p:nvPr>
            <p:ph type="title"/>
          </p:nvPr>
        </p:nvSpPr>
        <p:spPr>
          <a:xfrm>
            <a:off x="83925" y="88775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Objetivos del proyecto</a:t>
            </a:r>
            <a:endParaRPr b="1"/>
          </a:p>
        </p:txBody>
      </p:sp>
      <p:sp>
        <p:nvSpPr>
          <p:cNvPr id="112" name="Google Shape;112;p16"/>
          <p:cNvSpPr txBox="1"/>
          <p:nvPr>
            <p:ph idx="1" type="body"/>
          </p:nvPr>
        </p:nvSpPr>
        <p:spPr>
          <a:xfrm>
            <a:off x="311700" y="902250"/>
            <a:ext cx="71784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/>
              <a:t>Objetivo </a:t>
            </a:r>
            <a:r>
              <a:rPr b="1" lang="es"/>
              <a:t>general</a:t>
            </a:r>
            <a:r>
              <a:rPr b="1" lang="es"/>
              <a:t>: </a:t>
            </a:r>
            <a:endParaRPr b="1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s" sz="1400">
                <a:solidFill>
                  <a:srgbClr val="31394D"/>
                </a:solidFill>
              </a:rPr>
              <a:t>Desarrollar una plataforma web para la centralización y difusión de eventos sociales, culturales y de ocio</a:t>
            </a:r>
            <a:endParaRPr b="1"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/>
              <a:t>Resumen de los objetivos específicos:</a:t>
            </a:r>
            <a:endParaRPr b="1"/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s" sz="1400">
                <a:solidFill>
                  <a:srgbClr val="000000"/>
                </a:solidFill>
              </a:rPr>
              <a:t>Aumentar la asistencia a eventos en un 30% en los primeros 6 meses.</a:t>
            </a:r>
            <a:br>
              <a:rPr lang="es" sz="1400">
                <a:solidFill>
                  <a:srgbClr val="000000"/>
                </a:solidFill>
              </a:rPr>
            </a:br>
            <a:endParaRPr sz="1400">
              <a:solidFill>
                <a:srgbClr val="000000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s" sz="1400">
                <a:solidFill>
                  <a:srgbClr val="000000"/>
                </a:solidFill>
              </a:rPr>
              <a:t>Incrementar la interacción de usuarios con eventos en un 25% en 3 meses.</a:t>
            </a:r>
            <a:br>
              <a:rPr lang="es" sz="1400">
                <a:solidFill>
                  <a:srgbClr val="000000"/>
                </a:solidFill>
              </a:rPr>
            </a:br>
            <a:endParaRPr sz="1400">
              <a:solidFill>
                <a:srgbClr val="000000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s" sz="1400">
                <a:solidFill>
                  <a:srgbClr val="000000"/>
                </a:solidFill>
              </a:rPr>
              <a:t>Mejorar la venta de entradas en un 30% al cumplir 1 año de uso.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descr="EscuelaIT Duoc UC - Escuela de Informática y Telecomunicaciones Duoc UC - Duoc  UC | LinkedIn" id="113" name="Google Shape;11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02602" y="0"/>
            <a:ext cx="3141406" cy="7853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90088" y="831450"/>
            <a:ext cx="1114425" cy="1123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47925" y="2090275"/>
            <a:ext cx="778696" cy="78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701288" y="3104450"/>
            <a:ext cx="692050" cy="692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494050" y="4036950"/>
            <a:ext cx="692050" cy="69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22" name="Google Shape;12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02602" y="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7"/>
          <p:cNvSpPr txBox="1"/>
          <p:nvPr/>
        </p:nvSpPr>
        <p:spPr>
          <a:xfrm>
            <a:off x="115300" y="107800"/>
            <a:ext cx="3000000" cy="40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Alcances</a:t>
            </a:r>
            <a:endParaRPr b="1" sz="17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s" sz="1100"/>
              <a:t>Gestión de usuarios con diferentes roles: administrador, organizador y usuario.</a:t>
            </a:r>
            <a:br>
              <a:rPr lang="es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s" sz="1100"/>
              <a:t>Creación y publicación de eventos</a:t>
            </a:r>
            <a:br>
              <a:rPr lang="es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s" sz="1100"/>
              <a:t>Mapa interactivo con punto anterior</a:t>
            </a:r>
            <a:br>
              <a:rPr lang="es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s" sz="1100"/>
              <a:t>Dashboard tanto administrativas como para organizadores</a:t>
            </a:r>
            <a:br>
              <a:rPr lang="es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s" sz="1100"/>
              <a:t>Acreditación o aprobación de organizadores gestionada por administradores</a:t>
            </a:r>
            <a:br>
              <a:rPr lang="es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s" sz="1100"/>
              <a:t>Plataforma web adaptable a dispositivos móviles y de escritorio</a:t>
            </a:r>
            <a:endParaRPr sz="1100"/>
          </a:p>
        </p:txBody>
      </p:sp>
      <p:sp>
        <p:nvSpPr>
          <p:cNvPr id="124" name="Google Shape;124;p17"/>
          <p:cNvSpPr txBox="1"/>
          <p:nvPr/>
        </p:nvSpPr>
        <p:spPr>
          <a:xfrm>
            <a:off x="3953350" y="373125"/>
            <a:ext cx="3000000" cy="28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</a:t>
            </a:r>
            <a:r>
              <a:rPr b="1" lang="es"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imitaciones</a:t>
            </a:r>
            <a:endParaRPr b="1" sz="17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s" sz="1100"/>
              <a:t>Alcance </a:t>
            </a:r>
            <a:r>
              <a:rPr lang="es" sz="1100"/>
              <a:t> inicial solo en la ciudad de Concepción.</a:t>
            </a:r>
            <a:br>
              <a:rPr lang="es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s" sz="1100"/>
              <a:t>Sin integración a plataformas de pago de ningún tipo inicialmente</a:t>
            </a:r>
            <a:br>
              <a:rPr lang="es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s" sz="1100"/>
              <a:t>Acreditación requiere de aprobación manual</a:t>
            </a:r>
            <a:br>
              <a:rPr lang="es" sz="1100"/>
            </a:br>
            <a:endParaRPr sz="11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/>
          </a:p>
        </p:txBody>
      </p:sp>
      <p:pic>
        <p:nvPicPr>
          <p:cNvPr id="125" name="Google Shape;12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24750" y="265949"/>
            <a:ext cx="617275" cy="61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64663" y="726426"/>
            <a:ext cx="617275" cy="61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024750" y="1037651"/>
            <a:ext cx="617275" cy="61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115300" y="1877513"/>
            <a:ext cx="617275" cy="61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115300" y="2494801"/>
            <a:ext cx="617275" cy="61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174125" y="2422851"/>
            <a:ext cx="617275" cy="61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7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024750" y="3951951"/>
            <a:ext cx="617275" cy="6172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2" name="Google Shape;132;p17"/>
          <p:cNvGrpSpPr/>
          <p:nvPr/>
        </p:nvGrpSpPr>
        <p:grpSpPr>
          <a:xfrm>
            <a:off x="7174125" y="1604701"/>
            <a:ext cx="806525" cy="617251"/>
            <a:chOff x="7174125" y="1604701"/>
            <a:chExt cx="806525" cy="617251"/>
          </a:xfrm>
        </p:grpSpPr>
        <p:pic>
          <p:nvPicPr>
            <p:cNvPr id="133" name="Google Shape;133;p17"/>
            <p:cNvPicPr preferRelativeResize="0"/>
            <p:nvPr/>
          </p:nvPicPr>
          <p:blipFill>
            <a:blip r:embed="rId11">
              <a:alphaModFix/>
            </a:blip>
            <a:stretch>
              <a:fillRect/>
            </a:stretch>
          </p:blipFill>
          <p:spPr>
            <a:xfrm>
              <a:off x="7174125" y="1604701"/>
              <a:ext cx="617251" cy="6172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4" name="Google Shape;134;p17"/>
            <p:cNvPicPr preferRelativeResize="0"/>
            <p:nvPr/>
          </p:nvPicPr>
          <p:blipFill>
            <a:blip r:embed="rId12">
              <a:alphaModFix/>
            </a:blip>
            <a:stretch>
              <a:fillRect/>
            </a:stretch>
          </p:blipFill>
          <p:spPr>
            <a:xfrm>
              <a:off x="7571375" y="1654936"/>
              <a:ext cx="409275" cy="4092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5" name="Google Shape;135;p17"/>
          <p:cNvGrpSpPr/>
          <p:nvPr/>
        </p:nvGrpSpPr>
        <p:grpSpPr>
          <a:xfrm>
            <a:off x="3115300" y="3223375"/>
            <a:ext cx="788626" cy="676776"/>
            <a:chOff x="3115300" y="3223375"/>
            <a:chExt cx="788626" cy="676776"/>
          </a:xfrm>
        </p:grpSpPr>
        <p:pic>
          <p:nvPicPr>
            <p:cNvPr id="136" name="Google Shape;136;p17"/>
            <p:cNvPicPr preferRelativeResize="0"/>
            <p:nvPr/>
          </p:nvPicPr>
          <p:blipFill>
            <a:blip r:embed="rId13">
              <a:alphaModFix/>
            </a:blip>
            <a:stretch>
              <a:fillRect/>
            </a:stretch>
          </p:blipFill>
          <p:spPr>
            <a:xfrm>
              <a:off x="3115300" y="3223375"/>
              <a:ext cx="617275" cy="6172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7" name="Google Shape;137;p17"/>
            <p:cNvPicPr preferRelativeResize="0"/>
            <p:nvPr/>
          </p:nvPicPr>
          <p:blipFill>
            <a:blip r:embed="rId14">
              <a:alphaModFix/>
            </a:blip>
            <a:stretch>
              <a:fillRect/>
            </a:stretch>
          </p:blipFill>
          <p:spPr>
            <a:xfrm>
              <a:off x="3443100" y="3439326"/>
              <a:ext cx="460826" cy="46082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8"/>
          <p:cNvSpPr txBox="1"/>
          <p:nvPr>
            <p:ph type="title"/>
          </p:nvPr>
        </p:nvSpPr>
        <p:spPr>
          <a:xfrm>
            <a:off x="187075" y="88775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Metodología de trabajo</a:t>
            </a:r>
            <a:endParaRPr b="1"/>
          </a:p>
        </p:txBody>
      </p:sp>
      <p:sp>
        <p:nvSpPr>
          <p:cNvPr id="143" name="Google Shape;143;p18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/>
              <a:t>Metodología: </a:t>
            </a:r>
            <a:r>
              <a:rPr lang="es"/>
              <a:t>Cascada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/>
              <a:t>Justificación de la elección:</a:t>
            </a:r>
            <a:endParaRPr b="1"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"/>
              <a:t>Claridad en objetivos y etapas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"/>
              <a:t>Bien alineada al cronograma de la asignatura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"/>
              <a:t>Fácil seguimiento y con experiencia en ella</a:t>
            </a:r>
            <a:endParaRPr/>
          </a:p>
        </p:txBody>
      </p:sp>
      <p:pic>
        <p:nvPicPr>
          <p:cNvPr descr="EscuelaIT Duoc UC - Escuela de Informática y Telecomunicaciones Duoc UC - Duoc  UC | LinkedIn" id="144" name="Google Shape;14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02602" y="0"/>
            <a:ext cx="3141406" cy="7853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58850" y="677325"/>
            <a:ext cx="3448825" cy="3404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73700" y="2178050"/>
            <a:ext cx="683025" cy="68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72350" y="2949475"/>
            <a:ext cx="785350" cy="78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9"/>
          <p:cNvSpPr txBox="1"/>
          <p:nvPr>
            <p:ph type="title"/>
          </p:nvPr>
        </p:nvSpPr>
        <p:spPr>
          <a:xfrm>
            <a:off x="174750" y="88775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Cronograma</a:t>
            </a:r>
            <a:r>
              <a:rPr b="1" lang="es"/>
              <a:t> seguido</a:t>
            </a:r>
            <a:endParaRPr b="1"/>
          </a:p>
        </p:txBody>
      </p:sp>
      <p:pic>
        <p:nvPicPr>
          <p:cNvPr descr="EscuelaIT Duoc UC - Escuela de Informática y Telecomunicaciones Duoc UC - Duoc  UC | LinkedIn" id="153" name="Google Shape;15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02602" y="0"/>
            <a:ext cx="3141406" cy="7853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35750" y="841050"/>
            <a:ext cx="6272500" cy="17226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55" name="Google Shape;155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35750" y="2931938"/>
            <a:ext cx="6272500" cy="1877762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0"/>
          <p:cNvSpPr txBox="1"/>
          <p:nvPr>
            <p:ph type="title"/>
          </p:nvPr>
        </p:nvSpPr>
        <p:spPr>
          <a:xfrm>
            <a:off x="184625" y="88775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Cronograma seguido</a:t>
            </a:r>
            <a:endParaRPr b="1"/>
          </a:p>
        </p:txBody>
      </p:sp>
      <p:pic>
        <p:nvPicPr>
          <p:cNvPr descr="EscuelaIT Duoc UC - Escuela de Informática y Telecomunicaciones Duoc UC - Duoc  UC | LinkedIn" id="161" name="Google Shape;16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02602" y="0"/>
            <a:ext cx="3141406" cy="7853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72685" y="696575"/>
            <a:ext cx="4315980" cy="1999077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63" name="Google Shape;163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82950" y="2945350"/>
            <a:ext cx="5594151" cy="17772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1"/>
          <p:cNvSpPr txBox="1"/>
          <p:nvPr>
            <p:ph type="title"/>
          </p:nvPr>
        </p:nvSpPr>
        <p:spPr>
          <a:xfrm>
            <a:off x="183350" y="88775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Arquitectura del software</a:t>
            </a:r>
            <a:endParaRPr b="1"/>
          </a:p>
        </p:txBody>
      </p:sp>
      <p:pic>
        <p:nvPicPr>
          <p:cNvPr descr="EscuelaIT Duoc UC - Escuela de Informática y Telecomunicaciones Duoc UC - Duoc  UC | LinkedIn" id="169" name="Google Shape;16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02602" y="0"/>
            <a:ext cx="3141406" cy="78535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0" name="Google Shape;170;p21"/>
          <p:cNvGrpSpPr/>
          <p:nvPr/>
        </p:nvGrpSpPr>
        <p:grpSpPr>
          <a:xfrm>
            <a:off x="3689700" y="2373075"/>
            <a:ext cx="2245500" cy="2294400"/>
            <a:chOff x="3337700" y="2129125"/>
            <a:chExt cx="2245500" cy="2294400"/>
          </a:xfrm>
        </p:grpSpPr>
        <p:sp>
          <p:nvSpPr>
            <p:cNvPr id="171" name="Google Shape;171;p21"/>
            <p:cNvSpPr/>
            <p:nvPr/>
          </p:nvSpPr>
          <p:spPr>
            <a:xfrm>
              <a:off x="3337700" y="2129125"/>
              <a:ext cx="2245500" cy="2294400"/>
            </a:xfrm>
            <a:prstGeom prst="roundRect">
              <a:avLst>
                <a:gd fmla="val 16667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300">
                  <a:latin typeface="Roboto"/>
                  <a:ea typeface="Roboto"/>
                  <a:cs typeface="Roboto"/>
                  <a:sym typeface="Roboto"/>
                </a:rPr>
                <a:t>Backend (Elysia + Bun)</a:t>
              </a:r>
              <a:endParaRPr b="1" sz="1300"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172" name="Google Shape;172;p2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689700" y="2774100"/>
              <a:ext cx="652800" cy="652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3" name="Google Shape;173;p2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553663" y="2814490"/>
              <a:ext cx="652800" cy="572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4" name="Google Shape;174;p21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3689691" y="3634191"/>
              <a:ext cx="652800" cy="652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5" name="Google Shape;175;p21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4553666" y="3634191"/>
              <a:ext cx="652800" cy="6528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76" name="Google Shape;176;p21"/>
          <p:cNvGrpSpPr/>
          <p:nvPr/>
        </p:nvGrpSpPr>
        <p:grpSpPr>
          <a:xfrm>
            <a:off x="6829400" y="1563550"/>
            <a:ext cx="2245500" cy="2294400"/>
            <a:chOff x="6282425" y="1659550"/>
            <a:chExt cx="2245500" cy="2294400"/>
          </a:xfrm>
        </p:grpSpPr>
        <p:sp>
          <p:nvSpPr>
            <p:cNvPr id="177" name="Google Shape;177;p21"/>
            <p:cNvSpPr/>
            <p:nvPr/>
          </p:nvSpPr>
          <p:spPr>
            <a:xfrm>
              <a:off x="6282425" y="1659550"/>
              <a:ext cx="2245500" cy="2294400"/>
            </a:xfrm>
            <a:prstGeom prst="roundRect">
              <a:avLst>
                <a:gd fmla="val 16667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300">
                  <a:latin typeface="Roboto"/>
                  <a:ea typeface="Roboto"/>
                  <a:cs typeface="Roboto"/>
                  <a:sym typeface="Roboto"/>
                </a:rPr>
                <a:t>Base de Datos (PostgreSQL)</a:t>
              </a:r>
              <a:endParaRPr b="1" sz="1300"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178" name="Google Shape;178;p21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6658166" y="3197429"/>
              <a:ext cx="652800" cy="652800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179" name="Google Shape;179;p21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7564341" y="3197416"/>
              <a:ext cx="652800" cy="652800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180" name="Google Shape;180;p21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7072800" y="2437250"/>
              <a:ext cx="652800" cy="6528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81" name="Google Shape;181;p21"/>
          <p:cNvGrpSpPr/>
          <p:nvPr/>
        </p:nvGrpSpPr>
        <p:grpSpPr>
          <a:xfrm>
            <a:off x="1135425" y="696563"/>
            <a:ext cx="1764600" cy="1081800"/>
            <a:chOff x="2899050" y="1605375"/>
            <a:chExt cx="1764600" cy="1081800"/>
          </a:xfrm>
        </p:grpSpPr>
        <p:sp>
          <p:nvSpPr>
            <p:cNvPr id="182" name="Google Shape;182;p21"/>
            <p:cNvSpPr/>
            <p:nvPr/>
          </p:nvSpPr>
          <p:spPr>
            <a:xfrm>
              <a:off x="2929200" y="1605375"/>
              <a:ext cx="1704300" cy="1081800"/>
            </a:xfrm>
            <a:prstGeom prst="roundRect">
              <a:avLst>
                <a:gd fmla="val 16667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83" name="Google Shape;183;p21"/>
            <p:cNvGrpSpPr/>
            <p:nvPr/>
          </p:nvGrpSpPr>
          <p:grpSpPr>
            <a:xfrm>
              <a:off x="2899050" y="1605377"/>
              <a:ext cx="1764600" cy="986298"/>
              <a:chOff x="396375" y="1018302"/>
              <a:chExt cx="1764600" cy="986298"/>
            </a:xfrm>
          </p:grpSpPr>
          <p:pic>
            <p:nvPicPr>
              <p:cNvPr id="184" name="Google Shape;184;p21"/>
              <p:cNvPicPr preferRelativeResize="0"/>
              <p:nvPr/>
            </p:nvPicPr>
            <p:blipFill>
              <a:blip r:embed="rId11">
                <a:alphaModFix/>
              </a:blip>
              <a:stretch>
                <a:fillRect/>
              </a:stretch>
            </p:blipFill>
            <p:spPr>
              <a:xfrm>
                <a:off x="952268" y="1018302"/>
                <a:ext cx="652800" cy="6528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85" name="Google Shape;185;p21"/>
              <p:cNvSpPr txBox="1"/>
              <p:nvPr/>
            </p:nvSpPr>
            <p:spPr>
              <a:xfrm>
                <a:off x="396375" y="1599900"/>
                <a:ext cx="1764600" cy="404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s" sz="1100">
                    <a:solidFill>
                      <a:schemeClr val="dk2"/>
                    </a:solidFill>
                    <a:latin typeface="Roboto"/>
                    <a:ea typeface="Roboto"/>
                    <a:cs typeface="Roboto"/>
                    <a:sym typeface="Roboto"/>
                  </a:rPr>
                  <a:t>Usuario Final</a:t>
                </a:r>
                <a:endParaRPr b="1" sz="1100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s" sz="1100">
                    <a:solidFill>
                      <a:schemeClr val="dk2"/>
                    </a:solidFill>
                    <a:latin typeface="Roboto"/>
                    <a:ea typeface="Roboto"/>
                    <a:cs typeface="Roboto"/>
                    <a:sym typeface="Roboto"/>
                  </a:rPr>
                  <a:t>(Visitante / Registrado)</a:t>
                </a:r>
                <a:endParaRPr b="1" sz="1100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grpSp>
        <p:nvGrpSpPr>
          <p:cNvPr id="186" name="Google Shape;186;p21"/>
          <p:cNvGrpSpPr/>
          <p:nvPr/>
        </p:nvGrpSpPr>
        <p:grpSpPr>
          <a:xfrm>
            <a:off x="303525" y="2326575"/>
            <a:ext cx="2596500" cy="2387400"/>
            <a:chOff x="283775" y="2085325"/>
            <a:chExt cx="2596500" cy="2387400"/>
          </a:xfrm>
        </p:grpSpPr>
        <p:pic>
          <p:nvPicPr>
            <p:cNvPr id="187" name="Google Shape;187;p21"/>
            <p:cNvPicPr preferRelativeResize="0"/>
            <p:nvPr/>
          </p:nvPicPr>
          <p:blipFill>
            <a:blip r:embed="rId12">
              <a:alphaModFix/>
            </a:blip>
            <a:stretch>
              <a:fillRect/>
            </a:stretch>
          </p:blipFill>
          <p:spPr>
            <a:xfrm>
              <a:off x="476700" y="2774100"/>
              <a:ext cx="652800" cy="652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8" name="Google Shape;188;p21"/>
            <p:cNvPicPr preferRelativeResize="0"/>
            <p:nvPr/>
          </p:nvPicPr>
          <p:blipFill>
            <a:blip r:embed="rId13">
              <a:alphaModFix/>
            </a:blip>
            <a:stretch>
              <a:fillRect/>
            </a:stretch>
          </p:blipFill>
          <p:spPr>
            <a:xfrm>
              <a:off x="1255616" y="2774091"/>
              <a:ext cx="652800" cy="652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9" name="Google Shape;189;p21"/>
            <p:cNvPicPr preferRelativeResize="0"/>
            <p:nvPr/>
          </p:nvPicPr>
          <p:blipFill>
            <a:blip r:embed="rId14">
              <a:alphaModFix/>
            </a:blip>
            <a:stretch>
              <a:fillRect/>
            </a:stretch>
          </p:blipFill>
          <p:spPr>
            <a:xfrm>
              <a:off x="2034550" y="2778441"/>
              <a:ext cx="652800" cy="644100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190" name="Google Shape;190;p21"/>
            <p:cNvPicPr preferRelativeResize="0"/>
            <p:nvPr/>
          </p:nvPicPr>
          <p:blipFill>
            <a:blip r:embed="rId15">
              <a:alphaModFix/>
            </a:blip>
            <a:stretch>
              <a:fillRect/>
            </a:stretch>
          </p:blipFill>
          <p:spPr>
            <a:xfrm>
              <a:off x="760525" y="3593500"/>
              <a:ext cx="652800" cy="652800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191" name="Google Shape;191;p21"/>
            <p:cNvPicPr preferRelativeResize="0"/>
            <p:nvPr/>
          </p:nvPicPr>
          <p:blipFill>
            <a:blip r:embed="rId16">
              <a:alphaModFix/>
            </a:blip>
            <a:stretch>
              <a:fillRect/>
            </a:stretch>
          </p:blipFill>
          <p:spPr>
            <a:xfrm>
              <a:off x="1657516" y="3593491"/>
              <a:ext cx="652800" cy="652800"/>
            </a:xfrm>
            <a:prstGeom prst="ellipse">
              <a:avLst/>
            </a:prstGeom>
            <a:noFill/>
            <a:ln>
              <a:noFill/>
            </a:ln>
          </p:spPr>
        </p:pic>
        <p:sp>
          <p:nvSpPr>
            <p:cNvPr id="192" name="Google Shape;192;p21"/>
            <p:cNvSpPr/>
            <p:nvPr/>
          </p:nvSpPr>
          <p:spPr>
            <a:xfrm>
              <a:off x="283775" y="2085325"/>
              <a:ext cx="2596500" cy="2387400"/>
            </a:xfrm>
            <a:prstGeom prst="roundRect">
              <a:avLst>
                <a:gd fmla="val 16667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300">
                  <a:latin typeface="Roboto"/>
                  <a:ea typeface="Roboto"/>
                  <a:cs typeface="Roboto"/>
                  <a:sym typeface="Roboto"/>
                </a:rPr>
                <a:t>Frontend (Next.js + Tailwind)</a:t>
              </a:r>
              <a:endParaRPr b="1" sz="13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93" name="Google Shape;193;p21"/>
          <p:cNvGrpSpPr/>
          <p:nvPr/>
        </p:nvGrpSpPr>
        <p:grpSpPr>
          <a:xfrm>
            <a:off x="5859598" y="2486563"/>
            <a:ext cx="1038900" cy="1033712"/>
            <a:chOff x="5859598" y="2486563"/>
            <a:chExt cx="1038900" cy="1033712"/>
          </a:xfrm>
        </p:grpSpPr>
        <p:cxnSp>
          <p:nvCxnSpPr>
            <p:cNvPr id="194" name="Google Shape;194;p21"/>
            <p:cNvCxnSpPr>
              <a:stCxn id="171" idx="3"/>
              <a:endCxn id="177" idx="1"/>
            </p:cNvCxnSpPr>
            <p:nvPr/>
          </p:nvCxnSpPr>
          <p:spPr>
            <a:xfrm flipH="1" rot="10800000">
              <a:off x="5935200" y="2710875"/>
              <a:ext cx="894300" cy="8094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95" name="Google Shape;195;p21"/>
            <p:cNvSpPr txBox="1"/>
            <p:nvPr/>
          </p:nvSpPr>
          <p:spPr>
            <a:xfrm rot="-2267637">
              <a:off x="5876783" y="2752427"/>
              <a:ext cx="1004531" cy="4000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100">
                  <a:latin typeface="Roboto"/>
                  <a:ea typeface="Roboto"/>
                  <a:cs typeface="Roboto"/>
                  <a:sym typeface="Roboto"/>
                </a:rPr>
                <a:t>Drizzle ORM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96" name="Google Shape;196;p21"/>
          <p:cNvGrpSpPr/>
          <p:nvPr/>
        </p:nvGrpSpPr>
        <p:grpSpPr>
          <a:xfrm>
            <a:off x="2900025" y="3181375"/>
            <a:ext cx="789600" cy="400200"/>
            <a:chOff x="2900025" y="3181375"/>
            <a:chExt cx="789600" cy="400200"/>
          </a:xfrm>
        </p:grpSpPr>
        <p:cxnSp>
          <p:nvCxnSpPr>
            <p:cNvPr id="197" name="Google Shape;197;p21"/>
            <p:cNvCxnSpPr>
              <a:stCxn id="192" idx="3"/>
              <a:endCxn id="171" idx="1"/>
            </p:cNvCxnSpPr>
            <p:nvPr/>
          </p:nvCxnSpPr>
          <p:spPr>
            <a:xfrm>
              <a:off x="2900025" y="3520275"/>
              <a:ext cx="7896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98" name="Google Shape;198;p21"/>
            <p:cNvSpPr txBox="1"/>
            <p:nvPr/>
          </p:nvSpPr>
          <p:spPr>
            <a:xfrm>
              <a:off x="2986799" y="3181375"/>
              <a:ext cx="5250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100">
                  <a:latin typeface="Roboto"/>
                  <a:ea typeface="Roboto"/>
                  <a:cs typeface="Roboto"/>
                  <a:sym typeface="Roboto"/>
                </a:rPr>
                <a:t>JWT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99" name="Google Shape;199;p21"/>
          <p:cNvGrpSpPr/>
          <p:nvPr/>
        </p:nvGrpSpPr>
        <p:grpSpPr>
          <a:xfrm>
            <a:off x="1601925" y="1778363"/>
            <a:ext cx="1298101" cy="548100"/>
            <a:chOff x="1601925" y="1778363"/>
            <a:chExt cx="1298101" cy="548100"/>
          </a:xfrm>
        </p:grpSpPr>
        <p:cxnSp>
          <p:nvCxnSpPr>
            <p:cNvPr id="200" name="Google Shape;200;p21"/>
            <p:cNvCxnSpPr>
              <a:stCxn id="182" idx="2"/>
              <a:endCxn id="192" idx="0"/>
            </p:cNvCxnSpPr>
            <p:nvPr/>
          </p:nvCxnSpPr>
          <p:spPr>
            <a:xfrm flipH="1">
              <a:off x="1601925" y="1778363"/>
              <a:ext cx="415800" cy="5481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01" name="Google Shape;201;p21"/>
            <p:cNvSpPr txBox="1"/>
            <p:nvPr/>
          </p:nvSpPr>
          <p:spPr>
            <a:xfrm>
              <a:off x="1793926" y="1852375"/>
              <a:ext cx="11061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100">
                  <a:latin typeface="Roboto"/>
                  <a:ea typeface="Roboto"/>
                  <a:cs typeface="Roboto"/>
                  <a:sym typeface="Roboto"/>
                </a:rPr>
                <a:t>Usa interfaz web</a:t>
              </a:r>
              <a:endParaRPr sz="11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2"/>
          <p:cNvSpPr txBox="1"/>
          <p:nvPr>
            <p:ph type="title"/>
          </p:nvPr>
        </p:nvSpPr>
        <p:spPr>
          <a:xfrm>
            <a:off x="183650" y="88775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Modelo de datos</a:t>
            </a:r>
            <a:endParaRPr b="1"/>
          </a:p>
        </p:txBody>
      </p:sp>
      <p:pic>
        <p:nvPicPr>
          <p:cNvPr descr="EscuelaIT Duoc UC - Escuela de Informática y Telecomunicaciones Duoc UC - Duoc  UC | LinkedIn" id="207" name="Google Shape;20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02602" y="0"/>
            <a:ext cx="3141406" cy="7853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2" title="Modelo_Relacional_page-0001.jpg"/>
          <p:cNvPicPr preferRelativeResize="0"/>
          <p:nvPr/>
        </p:nvPicPr>
        <p:blipFill rotWithShape="1">
          <a:blip r:embed="rId4">
            <a:alphaModFix/>
          </a:blip>
          <a:srcRect b="0" l="7364" r="0" t="4159"/>
          <a:stretch/>
        </p:blipFill>
        <p:spPr>
          <a:xfrm>
            <a:off x="607025" y="627475"/>
            <a:ext cx="7929943" cy="4402476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3"/>
          <p:cNvSpPr txBox="1"/>
          <p:nvPr>
            <p:ph type="title"/>
          </p:nvPr>
        </p:nvSpPr>
        <p:spPr>
          <a:xfrm>
            <a:off x="193250" y="88775"/>
            <a:ext cx="56487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Tecnologías utilizadas para el desarrollo</a:t>
            </a:r>
            <a:endParaRPr b="1"/>
          </a:p>
        </p:txBody>
      </p:sp>
      <p:sp>
        <p:nvSpPr>
          <p:cNvPr id="214" name="Google Shape;214;p23"/>
          <p:cNvSpPr txBox="1"/>
          <p:nvPr>
            <p:ph idx="1" type="body"/>
          </p:nvPr>
        </p:nvSpPr>
        <p:spPr>
          <a:xfrm>
            <a:off x="311700" y="96332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000000"/>
                </a:solidFill>
              </a:rPr>
              <a:t>Las principales herramientas empleadas en el desarrollo de </a:t>
            </a:r>
            <a:r>
              <a:rPr i="1" lang="es" sz="1600">
                <a:solidFill>
                  <a:srgbClr val="000000"/>
                </a:solidFill>
              </a:rPr>
              <a:t>Panorama</a:t>
            </a:r>
            <a:r>
              <a:rPr lang="es" sz="1600">
                <a:solidFill>
                  <a:srgbClr val="000000"/>
                </a:solidFill>
              </a:rPr>
              <a:t> son:</a:t>
            </a:r>
            <a:endParaRPr sz="1600"/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b="1" lang="es" sz="1600">
                <a:solidFill>
                  <a:srgbClr val="000000"/>
                </a:solidFill>
              </a:rPr>
              <a:t>Backend:</a:t>
            </a:r>
            <a:br>
              <a:rPr b="1" lang="es" sz="1600">
                <a:solidFill>
                  <a:srgbClr val="000000"/>
                </a:solidFill>
              </a:rPr>
            </a:br>
            <a:r>
              <a:rPr b="1" lang="es" sz="1600">
                <a:solidFill>
                  <a:srgbClr val="000000"/>
                </a:solidFill>
              </a:rPr>
              <a:t>Elysia.js </a:t>
            </a:r>
            <a:r>
              <a:rPr lang="es" sz="1600">
                <a:solidFill>
                  <a:srgbClr val="000000"/>
                </a:solidFill>
              </a:rPr>
              <a:t>(framework web) + </a:t>
            </a:r>
            <a:r>
              <a:rPr b="1" lang="es" sz="1600">
                <a:solidFill>
                  <a:srgbClr val="000000"/>
                </a:solidFill>
              </a:rPr>
              <a:t>Bun</a:t>
            </a:r>
            <a:br>
              <a:rPr lang="es" sz="1600">
                <a:solidFill>
                  <a:srgbClr val="000000"/>
                </a:solidFill>
              </a:rPr>
            </a:br>
            <a:r>
              <a:rPr lang="es" sz="1600">
                <a:solidFill>
                  <a:srgbClr val="000000"/>
                </a:solidFill>
              </a:rPr>
              <a:t>Validación con </a:t>
            </a:r>
            <a:r>
              <a:rPr b="1" lang="es" sz="1600">
                <a:solidFill>
                  <a:srgbClr val="000000"/>
                </a:solidFill>
              </a:rPr>
              <a:t>Zod</a:t>
            </a:r>
            <a:r>
              <a:rPr lang="es" sz="1600">
                <a:solidFill>
                  <a:srgbClr val="000000"/>
                </a:solidFill>
              </a:rPr>
              <a:t> y documentación con </a:t>
            </a:r>
            <a:r>
              <a:rPr b="1" lang="es" sz="1600">
                <a:solidFill>
                  <a:srgbClr val="000000"/>
                </a:solidFill>
              </a:rPr>
              <a:t>Swagger</a:t>
            </a:r>
            <a:br>
              <a:rPr b="1" lang="es" sz="1600">
                <a:solidFill>
                  <a:srgbClr val="000000"/>
                </a:solidFill>
              </a:rPr>
            </a:br>
            <a:endParaRPr b="1" sz="1600">
              <a:solidFill>
                <a:srgbClr val="000000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s" sz="1600">
                <a:solidFill>
                  <a:srgbClr val="000000"/>
                </a:solidFill>
              </a:rPr>
              <a:t>Frontend:</a:t>
            </a:r>
            <a:br>
              <a:rPr b="1" lang="es" sz="1600">
                <a:solidFill>
                  <a:srgbClr val="000000"/>
                </a:solidFill>
              </a:rPr>
            </a:br>
            <a:r>
              <a:rPr b="1" lang="es" sz="1600">
                <a:solidFill>
                  <a:srgbClr val="000000"/>
                </a:solidFill>
              </a:rPr>
              <a:t>Next.js</a:t>
            </a:r>
            <a:r>
              <a:rPr lang="es" sz="1600">
                <a:solidFill>
                  <a:srgbClr val="000000"/>
                </a:solidFill>
              </a:rPr>
              <a:t> 15 con App Router y </a:t>
            </a:r>
            <a:r>
              <a:rPr b="1" lang="es" sz="1600">
                <a:solidFill>
                  <a:srgbClr val="000000"/>
                </a:solidFill>
              </a:rPr>
              <a:t>TypeScript</a:t>
            </a:r>
            <a:br>
              <a:rPr b="1" lang="es" sz="1600">
                <a:solidFill>
                  <a:srgbClr val="000000"/>
                </a:solidFill>
              </a:rPr>
            </a:br>
            <a:r>
              <a:rPr lang="es" sz="1600">
                <a:solidFill>
                  <a:srgbClr val="000000"/>
                </a:solidFill>
              </a:rPr>
              <a:t>UI moderna con </a:t>
            </a:r>
            <a:r>
              <a:rPr b="1" lang="es" sz="1600">
                <a:solidFill>
                  <a:srgbClr val="000000"/>
                </a:solidFill>
              </a:rPr>
              <a:t>Tailwind CSS</a:t>
            </a:r>
            <a:r>
              <a:rPr lang="es" sz="1600">
                <a:solidFill>
                  <a:srgbClr val="000000"/>
                </a:solidFill>
              </a:rPr>
              <a:t>, </a:t>
            </a:r>
            <a:r>
              <a:rPr b="1" lang="es" sz="1600">
                <a:solidFill>
                  <a:srgbClr val="000000"/>
                </a:solidFill>
              </a:rPr>
              <a:t>Radix UI</a:t>
            </a:r>
            <a:r>
              <a:rPr lang="es" sz="1600">
                <a:solidFill>
                  <a:srgbClr val="000000"/>
                </a:solidFill>
              </a:rPr>
              <a:t> y </a:t>
            </a:r>
            <a:r>
              <a:rPr b="1" lang="es" sz="1600">
                <a:solidFill>
                  <a:srgbClr val="000000"/>
                </a:solidFill>
              </a:rPr>
              <a:t>shadcn/ui</a:t>
            </a:r>
            <a:br>
              <a:rPr b="1" lang="es" sz="1600">
                <a:solidFill>
                  <a:srgbClr val="000000"/>
                </a:solidFill>
              </a:rPr>
            </a:br>
            <a:endParaRPr b="1" sz="1600">
              <a:solidFill>
                <a:srgbClr val="000000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s" sz="1600">
                <a:solidFill>
                  <a:srgbClr val="000000"/>
                </a:solidFill>
              </a:rPr>
              <a:t>Base de Datos:</a:t>
            </a:r>
            <a:br>
              <a:rPr b="1" lang="es" sz="1600">
                <a:solidFill>
                  <a:srgbClr val="000000"/>
                </a:solidFill>
              </a:rPr>
            </a:br>
            <a:r>
              <a:rPr b="1" lang="es" sz="1600">
                <a:solidFill>
                  <a:srgbClr val="000000"/>
                </a:solidFill>
              </a:rPr>
              <a:t>PostgreSQL</a:t>
            </a:r>
            <a:r>
              <a:rPr lang="es" sz="1600">
                <a:solidFill>
                  <a:srgbClr val="000000"/>
                </a:solidFill>
              </a:rPr>
              <a:t> alojada en Supabase, manejada con ORM </a:t>
            </a:r>
            <a:r>
              <a:rPr b="1" lang="es" sz="1600">
                <a:solidFill>
                  <a:srgbClr val="000000"/>
                </a:solidFill>
              </a:rPr>
              <a:t>Drizzle</a:t>
            </a:r>
            <a:endParaRPr sz="1600"/>
          </a:p>
        </p:txBody>
      </p:sp>
      <p:pic>
        <p:nvPicPr>
          <p:cNvPr descr="EscuelaIT Duoc UC - Escuela de Informática y Telecomunicaciones Duoc UC - Duoc  UC | LinkedIn" id="215" name="Google Shape;21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02602" y="0"/>
            <a:ext cx="3141406" cy="7853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89850" y="1448700"/>
            <a:ext cx="652800" cy="65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31563" y="1489090"/>
            <a:ext cx="652800" cy="572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931825" y="2306413"/>
            <a:ext cx="652800" cy="65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949916" y="2306416"/>
            <a:ext cx="652800" cy="65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355125" y="3164150"/>
            <a:ext cx="652800" cy="65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4"/>
          <p:cNvSpPr txBox="1"/>
          <p:nvPr>
            <p:ph type="title"/>
          </p:nvPr>
        </p:nvSpPr>
        <p:spPr>
          <a:xfrm>
            <a:off x="173475" y="88775"/>
            <a:ext cx="56388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Resultados obtenidos y </a:t>
            </a:r>
            <a:r>
              <a:rPr b="1" lang="es"/>
              <a:t>obstáculos</a:t>
            </a:r>
            <a:r>
              <a:rPr b="1" lang="es"/>
              <a:t> presentados durante el desarrollo</a:t>
            </a:r>
            <a:endParaRPr b="1"/>
          </a:p>
        </p:txBody>
      </p:sp>
      <p:sp>
        <p:nvSpPr>
          <p:cNvPr id="226" name="Google Shape;226;p24"/>
          <p:cNvSpPr txBox="1"/>
          <p:nvPr>
            <p:ph idx="1" type="body"/>
          </p:nvPr>
        </p:nvSpPr>
        <p:spPr>
          <a:xfrm>
            <a:off x="305250" y="1126100"/>
            <a:ext cx="8533500" cy="304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Resultados obtenidos</a:t>
            </a:r>
            <a:r>
              <a:rPr b="1" lang="es"/>
              <a:t>:</a:t>
            </a:r>
            <a:endParaRPr b="1"/>
          </a:p>
          <a:p>
            <a:pPr indent="-317182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b="1" lang="es"/>
              <a:t>Base de datos bien estructurada y escalable</a:t>
            </a:r>
            <a:endParaRPr b="1"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s"/>
              <a:t>Perfiles de usuario, organizador y administrador configurables</a:t>
            </a:r>
            <a:endParaRPr b="1"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s"/>
              <a:t>Creación, listado, aprobación y detalles de eventos</a:t>
            </a:r>
            <a:endParaRPr b="1"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s"/>
              <a:t>Localización de eventos en mapa interactivo</a:t>
            </a:r>
            <a:endParaRPr b="1"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s"/>
              <a:t>Copiado de url de eventos a portapapeles para compartir los mismos</a:t>
            </a:r>
            <a:endParaRPr b="1"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s"/>
              <a:t>Búsqueda</a:t>
            </a:r>
            <a:r>
              <a:rPr b="1" lang="es"/>
              <a:t> avanzada de eventos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/>
              <a:t>Obstáculos principales</a:t>
            </a:r>
            <a:r>
              <a:rPr b="1" lang="es"/>
              <a:t>: </a:t>
            </a:r>
            <a:endParaRPr b="1"/>
          </a:p>
          <a:p>
            <a:pPr indent="-317182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b="1" lang="es"/>
              <a:t>Al inicio enfrentamos desafíos técnicos por la adaptación a nuevas tecnologías, lo que generó una curva de aprendizaje que afectó los tiempos de desarrollo</a:t>
            </a:r>
            <a:endParaRPr b="1"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s"/>
              <a:t>Se </a:t>
            </a:r>
            <a:r>
              <a:rPr b="1" lang="es"/>
              <a:t>repitió</a:t>
            </a:r>
            <a:r>
              <a:rPr b="1" lang="es"/>
              <a:t> varias veces el apartado de la base de datos para aguantar mejoras posteriores</a:t>
            </a:r>
            <a:endParaRPr b="1"/>
          </a:p>
        </p:txBody>
      </p:sp>
      <p:pic>
        <p:nvPicPr>
          <p:cNvPr descr="EscuelaIT Duoc UC - Escuela de Informática y Telecomunicaciones Duoc UC - Duoc  UC | LinkedIn" id="227" name="Google Shape;22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02602" y="0"/>
            <a:ext cx="3141406" cy="7853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5"/>
          <p:cNvSpPr txBox="1"/>
          <p:nvPr>
            <p:ph type="title"/>
          </p:nvPr>
        </p:nvSpPr>
        <p:spPr>
          <a:xfrm>
            <a:off x="2297349" y="1025200"/>
            <a:ext cx="4642800" cy="60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Demo funcional del software</a:t>
            </a:r>
            <a:endParaRPr b="1"/>
          </a:p>
        </p:txBody>
      </p:sp>
      <p:pic>
        <p:nvPicPr>
          <p:cNvPr descr="EscuelaIT Duoc UC - Escuela de Informática y Telecomunicaciones Duoc UC - Duoc  UC | LinkedIn" id="233" name="Google Shape;23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02602" y="0"/>
            <a:ext cx="3141406" cy="7853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3313" y="1416963"/>
            <a:ext cx="2917375" cy="291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6"/>
          <p:cNvSpPr txBox="1"/>
          <p:nvPr>
            <p:ph type="title"/>
          </p:nvPr>
        </p:nvSpPr>
        <p:spPr>
          <a:xfrm>
            <a:off x="193225" y="88775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Cierre</a:t>
            </a:r>
            <a:endParaRPr b="1"/>
          </a:p>
        </p:txBody>
      </p:sp>
      <p:sp>
        <p:nvSpPr>
          <p:cNvPr id="240" name="Google Shape;240;p26"/>
          <p:cNvSpPr txBox="1"/>
          <p:nvPr>
            <p:ph idx="1" type="body"/>
          </p:nvPr>
        </p:nvSpPr>
        <p:spPr>
          <a:xfrm>
            <a:off x="311700" y="587975"/>
            <a:ext cx="705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b="1" lang="es" sz="1200">
                <a:solidFill>
                  <a:srgbClr val="000000"/>
                </a:solidFill>
              </a:rPr>
              <a:t>Asistencia</a:t>
            </a:r>
            <a:endParaRPr b="1" sz="1200">
              <a:solidFill>
                <a:srgbClr val="000000"/>
              </a:solidFill>
            </a:endParaRPr>
          </a:p>
          <a:p>
            <a:pPr indent="-304800" lvl="1" marL="914400" marR="3810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</a:pPr>
            <a:r>
              <a:rPr lang="es" sz="1200">
                <a:solidFill>
                  <a:srgbClr val="000000"/>
                </a:solidFill>
              </a:rPr>
              <a:t>Facilita que más personas descubran eventos a tiempo gracias a la publicación organizada</a:t>
            </a:r>
            <a:endParaRPr sz="1200">
              <a:solidFill>
                <a:srgbClr val="000000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s" sz="1200">
                <a:solidFill>
                  <a:srgbClr val="000000"/>
                </a:solidFill>
              </a:rPr>
              <a:t> </a:t>
            </a:r>
            <a:r>
              <a:rPr b="1" lang="es" sz="1200">
                <a:solidFill>
                  <a:srgbClr val="000000"/>
                </a:solidFill>
              </a:rPr>
              <a:t>Interacción</a:t>
            </a:r>
            <a:endParaRPr b="1" sz="1200">
              <a:solidFill>
                <a:srgbClr val="000000"/>
              </a:solidFill>
            </a:endParaRPr>
          </a:p>
          <a:p>
            <a:pPr indent="-304800" lvl="1" marL="914400" marR="3810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</a:pPr>
            <a:r>
              <a:rPr lang="es" sz="1200">
                <a:solidFill>
                  <a:srgbClr val="000000"/>
                </a:solidFill>
              </a:rPr>
              <a:t>Funcionalidades como búsqueda con filtros, detalles de eventos y favoritos aumentan el interés del usuario</a:t>
            </a:r>
            <a:endParaRPr sz="1200">
              <a:solidFill>
                <a:srgbClr val="000000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b="1" lang="es" sz="1200">
                <a:solidFill>
                  <a:srgbClr val="000000"/>
                </a:solidFill>
              </a:rPr>
              <a:t>Proyección de ventas</a:t>
            </a:r>
            <a:endParaRPr b="1" sz="1200">
              <a:solidFill>
                <a:srgbClr val="000000"/>
              </a:solidFill>
            </a:endParaRPr>
          </a:p>
          <a:p>
            <a:pPr indent="-304800" lvl="1" marL="914400" marR="3810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</a:pPr>
            <a:r>
              <a:rPr lang="es" sz="1200">
                <a:solidFill>
                  <a:srgbClr val="000000"/>
                </a:solidFill>
              </a:rPr>
              <a:t>La estructura de eventos y visibilidad sentará las bases para futuras integraciones de entradas}</a:t>
            </a:r>
            <a:endParaRPr sz="12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000000"/>
                </a:solidFill>
              </a:rPr>
              <a:t>Impacto directo</a:t>
            </a:r>
            <a:endParaRPr b="1" sz="1200">
              <a:solidFill>
                <a:srgbClr val="000000"/>
              </a:solidFill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1" lang="es" sz="1200">
                <a:solidFill>
                  <a:srgbClr val="000000"/>
                </a:solidFill>
              </a:rPr>
              <a:t>Usuarios</a:t>
            </a:r>
            <a:r>
              <a:rPr lang="es" sz="1200">
                <a:solidFill>
                  <a:srgbClr val="000000"/>
                </a:solidFill>
              </a:rPr>
              <a:t> → Descubren más eventos con facilidad</a:t>
            </a:r>
            <a:br>
              <a:rPr lang="es" sz="1200">
                <a:solidFill>
                  <a:srgbClr val="000000"/>
                </a:solidFill>
              </a:rPr>
            </a:br>
            <a:endParaRPr sz="1200">
              <a:solidFill>
                <a:srgbClr val="000000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1" lang="es" sz="1200">
                <a:solidFill>
                  <a:srgbClr val="000000"/>
                </a:solidFill>
              </a:rPr>
              <a:t>Organizadores</a:t>
            </a:r>
            <a:r>
              <a:rPr lang="es" sz="1200">
                <a:solidFill>
                  <a:srgbClr val="000000"/>
                </a:solidFill>
              </a:rPr>
              <a:t> → Mayor visibilidad y control de sus eventos</a:t>
            </a:r>
            <a:br>
              <a:rPr lang="es" sz="1200">
                <a:solidFill>
                  <a:srgbClr val="000000"/>
                </a:solidFill>
              </a:rPr>
            </a:br>
            <a:endParaRPr sz="1200">
              <a:solidFill>
                <a:srgbClr val="000000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1" lang="es" sz="1200">
                <a:solidFill>
                  <a:srgbClr val="000000"/>
                </a:solidFill>
              </a:rPr>
              <a:t>Comunidad</a:t>
            </a:r>
            <a:r>
              <a:rPr lang="es" sz="1200">
                <a:solidFill>
                  <a:srgbClr val="000000"/>
                </a:solidFill>
              </a:rPr>
              <a:t> → Se fortalece la vida cultural y social</a:t>
            </a:r>
            <a:endParaRPr sz="1200">
              <a:solidFill>
                <a:srgbClr val="000000"/>
              </a:solidFill>
            </a:endParaRPr>
          </a:p>
        </p:txBody>
      </p:sp>
      <p:sp>
        <p:nvSpPr>
          <p:cNvPr id="241" name="Google Shape;241;p26"/>
          <p:cNvSpPr txBox="1"/>
          <p:nvPr>
            <p:ph type="title"/>
          </p:nvPr>
        </p:nvSpPr>
        <p:spPr>
          <a:xfrm>
            <a:off x="2367450" y="3839400"/>
            <a:ext cx="4409100" cy="100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Muchas Gracias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¿Alguna pregunta?</a:t>
            </a:r>
            <a:endParaRPr b="1"/>
          </a:p>
        </p:txBody>
      </p:sp>
      <p:pic>
        <p:nvPicPr>
          <p:cNvPr descr="EscuelaIT Duoc UC - Escuela de Informática y Telecomunicaciones Duoc UC - Duoc  UC | LinkedIn" id="242" name="Google Shape;24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02602" y="0"/>
            <a:ext cx="3141406" cy="7853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99425" y="587975"/>
            <a:ext cx="617275" cy="61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64663" y="1307125"/>
            <a:ext cx="617275" cy="61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06750" y="2122725"/>
            <a:ext cx="617251" cy="617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871325" y="2263125"/>
            <a:ext cx="617251" cy="617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2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488575" y="2820675"/>
            <a:ext cx="617275" cy="61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719200" y="3309700"/>
            <a:ext cx="617275" cy="617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